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14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743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86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00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15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229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144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58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72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887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801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3716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4630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9144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8288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36576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45720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64008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73152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82296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0" y="7818120"/>
            <a:ext cx="14630400" cy="73152"/>
          </a:xfrm>
          <a:prstGeom prst="rect">
            <a:avLst/>
          </a:prstGeom>
          <a:solidFill>
            <a:srgbClr val="4D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6858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4DE1FF"/>
                </a:solidFill>
                <a:latin typeface="Space Mono"/>
              </a:rPr>
              <a:t>OBJECTIVE-BASED LAB WALKTHROUGH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1234440"/>
            <a:ext cx="950976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1">
                <a:solidFill>
                  <a:srgbClr val="E6EDF5"/>
                </a:solidFill>
                <a:latin typeface="Space Grotesk"/>
              </a:rPr>
              <a:t>Browser-Safe AI Systems Workshop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" y="2761488"/>
            <a:ext cx="8503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0">
                <a:solidFill>
                  <a:srgbClr val="9AA6B2"/>
                </a:solidFill>
                <a:latin typeface="Space Grotesk"/>
              </a:rPr>
              <a:t>Student slide deck for local-only, synthetic-only, evidence-first browser AI security validation.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75520" y="960120"/>
            <a:ext cx="3840480" cy="4297680"/>
          </a:xfrm>
          <a:prstGeom prst="roundRect">
            <a:avLst/>
          </a:prstGeom>
          <a:solidFill>
            <a:srgbClr val="0C141E"/>
          </a:solidFill>
          <a:ln w="15240">
            <a:solidFill>
              <a:srgbClr val="2B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875520" y="960120"/>
            <a:ext cx="45720" cy="4297680"/>
          </a:xfrm>
          <a:prstGeom prst="rect">
            <a:avLst/>
          </a:prstGeom>
          <a:solidFill>
            <a:srgbClr val="B6F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31552" y="1161288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B6FF3B"/>
                </a:solidFill>
                <a:latin typeface="Space Mono"/>
              </a:rPr>
              <a:t>CASE FILE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31552" y="1581912"/>
            <a:ext cx="338328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E6EDF5"/>
                </a:solidFill>
                <a:latin typeface="Space Grotesk"/>
              </a:rPr>
              <a:t>Organization: unattributed
Instructor: stumble the drunk
Delivery: practical workshop
Target: local weak ollama-webui
Output: evidence package + finding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4709160"/>
            <a:ext cx="3931920" cy="1417320"/>
          </a:xfrm>
          <a:prstGeom prst="roundRect">
            <a:avLst/>
          </a:prstGeom>
          <a:solidFill>
            <a:srgbClr val="0C141E"/>
          </a:solidFill>
          <a:ln w="15240">
            <a:solidFill>
              <a:srgbClr val="2B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7240" y="4709160"/>
            <a:ext cx="45720" cy="1417320"/>
          </a:xfrm>
          <a:prstGeom prst="rect">
            <a:avLst/>
          </a:prstGeom>
          <a:solidFill>
            <a:srgbClr val="4D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271" y="491032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4DE1FF"/>
                </a:solidFill>
                <a:latin typeface="Space Mono"/>
              </a:rPr>
              <a:t>OBJECTIVE-LED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3271" y="533095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E6EDF5"/>
                </a:solidFill>
                <a:latin typeface="Space Grotesk"/>
              </a:rPr>
              <a:t>Each lab validates a specific browser-AI failure mode.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74920" y="4709160"/>
            <a:ext cx="3931920" cy="1417320"/>
          </a:xfrm>
          <a:prstGeom prst="roundRect">
            <a:avLst/>
          </a:prstGeom>
          <a:solidFill>
            <a:srgbClr val="0C141E"/>
          </a:solidFill>
          <a:ln w="15240">
            <a:solidFill>
              <a:srgbClr val="2B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74920" y="4709160"/>
            <a:ext cx="45720" cy="141732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30952" y="491032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5B942"/>
                </a:solidFill>
                <a:latin typeface="Space Mono"/>
              </a:rPr>
              <a:t>EVIDENCE-FIRST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30952" y="533095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E6EDF5"/>
                </a:solidFill>
                <a:latin typeface="Space Grotesk"/>
              </a:rPr>
              <a:t>Claims must be backed by artifacts, manifests, and checksums.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372600" y="4709160"/>
            <a:ext cx="3931920" cy="1417320"/>
          </a:xfrm>
          <a:prstGeom prst="roundRect">
            <a:avLst/>
          </a:prstGeom>
          <a:solidFill>
            <a:srgbClr val="0C141E"/>
          </a:solidFill>
          <a:ln w="15240">
            <a:solidFill>
              <a:srgbClr val="2B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372600" y="4709160"/>
            <a:ext cx="45720" cy="1417320"/>
          </a:xfrm>
          <a:prstGeom prst="rect">
            <a:avLst/>
          </a:prstGeom>
          <a:solidFill>
            <a:srgbClr val="B6F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28632" y="491032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B6FF3B"/>
                </a:solidFill>
                <a:latin typeface="Space Mono"/>
              </a:rPr>
              <a:t>LOCAL-ONLY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28632" y="533095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E6EDF5"/>
                </a:solidFill>
                <a:latin typeface="Space Grotesk"/>
              </a:rPr>
              <a:t>Use the provided weak target and synthetic data only.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74797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9AA6B2"/>
                </a:solidFill>
                <a:latin typeface="Space Mono"/>
              </a:rPr>
              <a:t>BROWSER-SAFE AI SYSTEMS WORKSHOP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81160" y="747979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6B2"/>
                </a:solidFill>
                <a:latin typeface="Space Mono"/>
              </a:rPr>
              <a:t>unattributed / instructor: stumble the drunk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14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743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86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00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15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229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144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58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72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887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801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3716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4630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9144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8288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36576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45720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64008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73152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82296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0" y="7818120"/>
            <a:ext cx="14630400" cy="73152"/>
          </a:xfrm>
          <a:prstGeom prst="rect">
            <a:avLst/>
          </a:prstGeom>
          <a:solidFill>
            <a:srgbClr val="B6F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943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B6FF3B"/>
                </a:solidFill>
                <a:latin typeface="Space Mono"/>
              </a:rPr>
              <a:t>WORKSHOP GOALS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100584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E6EDF5"/>
                </a:solidFill>
                <a:latin typeface="Space Grotesk"/>
              </a:rPr>
              <a:t>What students should be able to 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1874519"/>
            <a:ext cx="65836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E6EDF5"/>
                </a:solidFill>
                <a:latin typeface="Space Grotesk"/>
              </a:defRPr>
            </a:pPr>
            <a:r>
              <a:t>Operate a local browser-AI security lab without touching third-party systems.</a:t>
            </a:r>
          </a:p>
          <a:p>
            <a:pPr>
              <a:spcAft>
                <a:spcPts val="800"/>
              </a:spcAft>
              <a:defRPr sz="2200">
                <a:solidFill>
                  <a:srgbClr val="E6EDF5"/>
                </a:solidFill>
                <a:latin typeface="Space Grotesk"/>
              </a:defRPr>
            </a:pPr>
            <a:r>
              <a:t>Generate synthetic adversarial browser content and student-authored variations.</a:t>
            </a:r>
          </a:p>
          <a:p>
            <a:pPr>
              <a:spcAft>
                <a:spcPts val="800"/>
              </a:spcAft>
              <a:defRPr sz="2200">
                <a:solidFill>
                  <a:srgbClr val="E6EDF5"/>
                </a:solidFill>
                <a:latin typeface="Space Grotesk"/>
              </a:defRPr>
            </a:pPr>
            <a:r>
              <a:t>Capture evidence before interpretation: browser, DOM, HTTP, proxy, model context, manifests, hashes.</a:t>
            </a:r>
          </a:p>
          <a:p>
            <a:pPr>
              <a:spcAft>
                <a:spcPts val="800"/>
              </a:spcAft>
              <a:defRPr sz="2200">
                <a:solidFill>
                  <a:srgbClr val="E6EDF5"/>
                </a:solidFill>
                <a:latin typeface="Space Grotesk"/>
              </a:defRPr>
            </a:pPr>
            <a:r>
              <a:t>Write findings that separate observed facts from model-generated language.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0" y="1737360"/>
            <a:ext cx="5303520" cy="1143000"/>
          </a:xfrm>
          <a:prstGeom prst="roundRect">
            <a:avLst/>
          </a:prstGeom>
          <a:solidFill>
            <a:srgbClr val="0C141E"/>
          </a:solidFill>
          <a:ln w="15240">
            <a:solidFill>
              <a:srgbClr val="2B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0" y="1737360"/>
            <a:ext cx="45720" cy="1143000"/>
          </a:xfrm>
          <a:prstGeom prst="rect">
            <a:avLst/>
          </a:prstGeom>
          <a:solidFill>
            <a:srgbClr val="4D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85632" y="193852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4DE1FF"/>
                </a:solidFill>
                <a:latin typeface="Space Mono"/>
              </a:rPr>
              <a:t>BOUNDARY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85632" y="235915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E6EDF5"/>
                </a:solidFill>
                <a:latin typeface="Space Grotesk"/>
              </a:rPr>
              <a:t>Use only the provided local weak target and synthetic data.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0" y="3154680"/>
            <a:ext cx="5303520" cy="1143000"/>
          </a:xfrm>
          <a:prstGeom prst="roundRect">
            <a:avLst/>
          </a:prstGeom>
          <a:solidFill>
            <a:srgbClr val="0C141E"/>
          </a:solidFill>
          <a:ln w="15240">
            <a:solidFill>
              <a:srgbClr val="2B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0" y="3154680"/>
            <a:ext cx="45720" cy="114300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85632" y="335584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5B942"/>
                </a:solidFill>
                <a:latin typeface="Space Mono"/>
              </a:rPr>
              <a:t>NON-GOALS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85632" y="377647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E6EDF5"/>
                </a:solidFill>
                <a:latin typeface="Space Grotesk"/>
              </a:rPr>
              <a:t>No vendor certification, production SaaS testing, target hardening, or real exploit development.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0" y="4572000"/>
            <a:ext cx="5303520" cy="1143000"/>
          </a:xfrm>
          <a:prstGeom prst="roundRect">
            <a:avLst/>
          </a:prstGeom>
          <a:solidFill>
            <a:srgbClr val="0C141E"/>
          </a:solidFill>
          <a:ln w="15240">
            <a:solidFill>
              <a:srgbClr val="2B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29600" y="4572000"/>
            <a:ext cx="45720" cy="1143000"/>
          </a:xfrm>
          <a:prstGeom prst="rect">
            <a:avLst/>
          </a:prstGeom>
          <a:solidFill>
            <a:srgbClr val="B6F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85632" y="477316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B6FF3B"/>
                </a:solidFill>
                <a:latin typeface="Space Mono"/>
              </a:rPr>
              <a:t>DEFAULT TOOL PATH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85632" y="519379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E6EDF5"/>
                </a:solidFill>
                <a:latin typeface="Space Grotesk"/>
              </a:rPr>
              <a:t>OWASP ZAP and mitmproxy are the required baseline. Burp Suite is optional for practitioners who already use it.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74797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9AA6B2"/>
                </a:solidFill>
                <a:latin typeface="Space Mono"/>
              </a:rPr>
              <a:t>BROWSER-SAFE AI SYSTEMS WORKSHOP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81160" y="747979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6B2"/>
                </a:solidFill>
                <a:latin typeface="Space Mono"/>
              </a:rPr>
              <a:t>unattributed / instructor: stumble the drunk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14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743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86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00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15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229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144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58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72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887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801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3716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4630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9144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8288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36576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45720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64008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73152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82296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0" y="7818120"/>
            <a:ext cx="14630400" cy="73152"/>
          </a:xfrm>
          <a:prstGeom prst="rect">
            <a:avLst/>
          </a:prstGeom>
          <a:solidFill>
            <a:srgbClr val="4D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943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4DE1FF"/>
                </a:solidFill>
                <a:latin typeface="Space Mono"/>
              </a:rPr>
              <a:t>ENVIRONMENT SETUP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100584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E6EDF5"/>
                </a:solidFill>
                <a:latin typeface="Space Grotesk"/>
              </a:rPr>
              <a:t>Local lab topology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2057400"/>
            <a:ext cx="2514600" cy="1325880"/>
          </a:xfrm>
          <a:prstGeom prst="roundRect">
            <a:avLst/>
          </a:prstGeom>
          <a:solidFill>
            <a:srgbClr val="0C141E"/>
          </a:solidFill>
          <a:ln w="15240">
            <a:solidFill>
              <a:srgbClr val="2B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" y="2057400"/>
            <a:ext cx="45720" cy="1325880"/>
          </a:xfrm>
          <a:prstGeom prst="rect">
            <a:avLst/>
          </a:prstGeom>
          <a:solidFill>
            <a:srgbClr val="4D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8992" y="2258568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4DE1FF"/>
                </a:solidFill>
                <a:latin typeface="Space Mono"/>
              </a:rPr>
              <a:t>STUDENT WORKSTATION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" y="2679192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E6EDF5"/>
                </a:solidFill>
                <a:latin typeface="Space Grotesk"/>
              </a:rPr>
              <a:t>repo, Python, Playwright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47288" y="2532888"/>
            <a:ext cx="502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0">
                <a:solidFill>
                  <a:srgbClr val="9AA6B2"/>
                </a:solidFill>
                <a:latin typeface="Space Mono"/>
              </a:rPr>
              <a:t>-&gt;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794760" y="2057400"/>
            <a:ext cx="2514600" cy="1325880"/>
          </a:xfrm>
          <a:prstGeom prst="roundRect">
            <a:avLst/>
          </a:prstGeom>
          <a:solidFill>
            <a:srgbClr val="0C141E"/>
          </a:solidFill>
          <a:ln w="15240">
            <a:solidFill>
              <a:srgbClr val="2B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794760" y="2057400"/>
            <a:ext cx="45720" cy="1325880"/>
          </a:xfrm>
          <a:prstGeom prst="rect">
            <a:avLst/>
          </a:prstGeom>
          <a:solidFill>
            <a:srgbClr val="B6F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50792" y="2258568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B6FF3B"/>
                </a:solidFill>
                <a:latin typeface="Space Mono"/>
              </a:rPr>
              <a:t>PROXY CAPTURE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50792" y="2679192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E6EDF5"/>
                </a:solidFill>
                <a:latin typeface="Space Grotesk"/>
              </a:rPr>
              <a:t>mitmproxy / OWASP ZAP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19088" y="2532888"/>
            <a:ext cx="502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0">
                <a:solidFill>
                  <a:srgbClr val="9AA6B2"/>
                </a:solidFill>
                <a:latin typeface="Space Mono"/>
              </a:rPr>
              <a:t>-&gt;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766560" y="2057400"/>
            <a:ext cx="2514600" cy="1325880"/>
          </a:xfrm>
          <a:prstGeom prst="roundRect">
            <a:avLst/>
          </a:prstGeom>
          <a:solidFill>
            <a:srgbClr val="0C141E"/>
          </a:solidFill>
          <a:ln w="15240">
            <a:solidFill>
              <a:srgbClr val="2B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766560" y="2057400"/>
            <a:ext cx="45720" cy="132588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22592" y="2258568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5B942"/>
                </a:solidFill>
                <a:latin typeface="Space Mono"/>
              </a:rPr>
              <a:t>WEAK TARGET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22592" y="2679192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E6EDF5"/>
                </a:solidFill>
                <a:latin typeface="Space Grotesk"/>
              </a:rPr>
              <a:t>127.0.0.1:11435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90888" y="2532888"/>
            <a:ext cx="502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0">
                <a:solidFill>
                  <a:srgbClr val="9AA6B2"/>
                </a:solidFill>
                <a:latin typeface="Space Mono"/>
              </a:rPr>
              <a:t>-&gt;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738360" y="2057400"/>
            <a:ext cx="2514600" cy="1325880"/>
          </a:xfrm>
          <a:prstGeom prst="roundRect">
            <a:avLst/>
          </a:prstGeom>
          <a:solidFill>
            <a:srgbClr val="0C141E"/>
          </a:solidFill>
          <a:ln w="15240">
            <a:solidFill>
              <a:srgbClr val="2B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738360" y="2057400"/>
            <a:ext cx="45720" cy="1325880"/>
          </a:xfrm>
          <a:prstGeom prst="rect">
            <a:avLst/>
          </a:prstGeom>
          <a:solidFill>
            <a:srgbClr val="59F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994392" y="2258568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59F2C7"/>
                </a:solidFill>
                <a:latin typeface="Space Mono"/>
              </a:rPr>
              <a:t>LOCAL OLLAMA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94392" y="2679192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E6EDF5"/>
                </a:solidFill>
                <a:latin typeface="Space Grotesk"/>
              </a:rPr>
              <a:t>127.0.0.1:11434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51560" y="4572000"/>
            <a:ext cx="3794760" cy="1280160"/>
          </a:xfrm>
          <a:prstGeom prst="roundRect">
            <a:avLst/>
          </a:prstGeom>
          <a:solidFill>
            <a:srgbClr val="0C141E"/>
          </a:solidFill>
          <a:ln w="15240">
            <a:solidFill>
              <a:srgbClr val="2B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51560" y="4572000"/>
            <a:ext cx="45720" cy="128016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307592" y="4773168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5B942"/>
                </a:solidFill>
                <a:latin typeface="Space Mono"/>
              </a:rPr>
              <a:t>EVIDENCE ROOT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07592" y="5193792"/>
            <a:ext cx="3337560" cy="502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E6EDF5"/>
                </a:solidFill>
                <a:latin typeface="Space Grotesk"/>
              </a:rPr>
              <a:t>$HOME/browser-safe-ai-workshop
artifact-manifest.json + SHA256SUMS.txt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440680" y="4572000"/>
            <a:ext cx="3794760" cy="1280160"/>
          </a:xfrm>
          <a:prstGeom prst="roundRect">
            <a:avLst/>
          </a:prstGeom>
          <a:solidFill>
            <a:srgbClr val="0C141E"/>
          </a:solidFill>
          <a:ln w="15240">
            <a:solidFill>
              <a:srgbClr val="2B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40680" y="4572000"/>
            <a:ext cx="45720" cy="1280160"/>
          </a:xfrm>
          <a:prstGeom prst="rect">
            <a:avLst/>
          </a:prstGeom>
          <a:solidFill>
            <a:srgbClr val="4D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696712" y="4773168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4DE1FF"/>
                </a:solidFill>
                <a:latin typeface="Space Mono"/>
              </a:rPr>
              <a:t>READINESS CHECKS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96712" y="5193792"/>
            <a:ext cx="3337560" cy="502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E6EDF5"/>
                </a:solidFill>
                <a:latin typeface="Space Grotesk"/>
              </a:rPr>
              <a:t>health endpoint, proxy capture, browser profile, model availability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829800" y="4572000"/>
            <a:ext cx="3794760" cy="1280160"/>
          </a:xfrm>
          <a:prstGeom prst="roundRect">
            <a:avLst/>
          </a:prstGeom>
          <a:solidFill>
            <a:srgbClr val="0C141E"/>
          </a:solidFill>
          <a:ln w="15240">
            <a:solidFill>
              <a:srgbClr val="2B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829800" y="4572000"/>
            <a:ext cx="45720" cy="1280160"/>
          </a:xfrm>
          <a:prstGeom prst="rect">
            <a:avLst/>
          </a:prstGeom>
          <a:solidFill>
            <a:srgbClr val="B6F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85832" y="4773168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B6FF3B"/>
                </a:solidFill>
                <a:latin typeface="Space Mono"/>
              </a:rPr>
              <a:t>SAFETY BOUNDARY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85832" y="5193792"/>
            <a:ext cx="3337560" cy="502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E6EDF5"/>
                </a:solidFill>
                <a:latin typeface="Space Grotesk"/>
              </a:rPr>
              <a:t>local-only / synthetic-only / authorized-only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" y="74797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9AA6B2"/>
                </a:solidFill>
                <a:latin typeface="Space Mono"/>
              </a:rPr>
              <a:t>BROWSER-SAFE AI SYSTEMS WORKSHOP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81160" y="747979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6B2"/>
                </a:solidFill>
                <a:latin typeface="Space Mono"/>
              </a:rPr>
              <a:t>unattributed / instructor: stumble the drunk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14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743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86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00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15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229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144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58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72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887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801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3716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4630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9144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8288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36576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45720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64008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73152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82296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0" y="7818120"/>
            <a:ext cx="14630400" cy="73152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943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F5B942"/>
                </a:solidFill>
                <a:latin typeface="Space Mono"/>
              </a:rPr>
              <a:t>LAB TRACK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1005840"/>
            <a:ext cx="6583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E6EDF5"/>
                </a:solidFill>
                <a:latin typeface="Space Grotesk"/>
              </a:rPr>
              <a:t>How the labs build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1874519"/>
            <a:ext cx="5760720" cy="1051560"/>
          </a:xfrm>
          <a:prstGeom prst="roundRect">
            <a:avLst/>
          </a:prstGeom>
          <a:solidFill>
            <a:srgbClr val="0C141E"/>
          </a:solidFill>
          <a:ln w="15240">
            <a:solidFill>
              <a:srgbClr val="2B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400" y="1874519"/>
            <a:ext cx="45720" cy="1051560"/>
          </a:xfrm>
          <a:prstGeom prst="rect">
            <a:avLst/>
          </a:prstGeom>
          <a:solidFill>
            <a:srgbClr val="4D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70432" y="2075688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4DE1FF"/>
                </a:solidFill>
                <a:latin typeface="Space Mono"/>
              </a:rPr>
              <a:t>00-01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70432" y="2496312"/>
            <a:ext cx="5303520" cy="2743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E6EDF5"/>
                </a:solidFill>
                <a:latin typeface="Space Grotesk"/>
              </a:rPr>
              <a:t>readiness + baseline evidence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0" y="1874519"/>
            <a:ext cx="5760720" cy="1051560"/>
          </a:xfrm>
          <a:prstGeom prst="roundRect">
            <a:avLst/>
          </a:prstGeom>
          <a:solidFill>
            <a:srgbClr val="0C141E"/>
          </a:solidFill>
          <a:ln w="15240">
            <a:solidFill>
              <a:srgbClr val="2B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0" y="1874519"/>
            <a:ext cx="45720" cy="1051560"/>
          </a:xfrm>
          <a:prstGeom prst="rect">
            <a:avLst/>
          </a:prstGeom>
          <a:solidFill>
            <a:srgbClr val="B6F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71231" y="2075688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B6FF3B"/>
                </a:solidFill>
                <a:latin typeface="Space Mono"/>
              </a:rPr>
              <a:t>02-06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71231" y="2496312"/>
            <a:ext cx="5303520" cy="2743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E6EDF5"/>
                </a:solidFill>
                <a:latin typeface="Space Grotesk"/>
              </a:rPr>
              <a:t>browser content provenance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" y="3291839"/>
            <a:ext cx="5760720" cy="1051560"/>
          </a:xfrm>
          <a:prstGeom prst="roundRect">
            <a:avLst/>
          </a:prstGeom>
          <a:solidFill>
            <a:srgbClr val="0C141E"/>
          </a:solidFill>
          <a:ln w="15240">
            <a:solidFill>
              <a:srgbClr val="2B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14400" y="3291839"/>
            <a:ext cx="45720" cy="105156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70432" y="3493008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5B942"/>
                </a:solidFill>
                <a:latin typeface="Space Mono"/>
              </a:rPr>
              <a:t>07-09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70432" y="3913631"/>
            <a:ext cx="5303520" cy="2743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E6EDF5"/>
                </a:solidFill>
                <a:latin typeface="Space Grotesk"/>
              </a:rPr>
              <a:t>state, handoff, data handling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0" y="3291839"/>
            <a:ext cx="5760720" cy="1051560"/>
          </a:xfrm>
          <a:prstGeom prst="roundRect">
            <a:avLst/>
          </a:prstGeom>
          <a:solidFill>
            <a:srgbClr val="0C141E"/>
          </a:solidFill>
          <a:ln w="15240">
            <a:solidFill>
              <a:srgbClr val="2B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0" y="3291839"/>
            <a:ext cx="45720" cy="1051560"/>
          </a:xfrm>
          <a:prstGeom prst="rect">
            <a:avLst/>
          </a:prstGeom>
          <a:solidFill>
            <a:srgbClr val="59F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71231" y="3493008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59F2C7"/>
                </a:solidFill>
                <a:latin typeface="Space Mono"/>
              </a:rPr>
              <a:t>10-11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71231" y="3913631"/>
            <a:ext cx="5303520" cy="2743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E6EDF5"/>
                </a:solidFill>
                <a:latin typeface="Space Grotesk"/>
              </a:rPr>
              <a:t>model verdicts + governance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4400" y="4709160"/>
            <a:ext cx="5760720" cy="1051560"/>
          </a:xfrm>
          <a:prstGeom prst="roundRect">
            <a:avLst/>
          </a:prstGeom>
          <a:solidFill>
            <a:srgbClr val="0C141E"/>
          </a:solidFill>
          <a:ln w="15240">
            <a:solidFill>
              <a:srgbClr val="2B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4400" y="4709160"/>
            <a:ext cx="45720" cy="1051560"/>
          </a:xfrm>
          <a:prstGeom prst="rect">
            <a:avLst/>
          </a:prstGeom>
          <a:solidFill>
            <a:srgbClr val="4D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70432" y="4910328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4DE1FF"/>
                </a:solidFill>
                <a:latin typeface="Space Mono"/>
              </a:rPr>
              <a:t>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70432" y="5330952"/>
            <a:ext cx="5303520" cy="2743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E6EDF5"/>
                </a:solidFill>
                <a:latin typeface="Space Grotesk"/>
              </a:rPr>
              <a:t>capstone evidence package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" y="6309360"/>
            <a:ext cx="1234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0">
                <a:solidFill>
                  <a:srgbClr val="9AA6B2"/>
                </a:solidFill>
                <a:latin typeface="Space Grotesk"/>
              </a:rPr>
              <a:t>Every lab ends with evidence review, a student-authored variation, and a concise reportable finding.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" y="74797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9AA6B2"/>
                </a:solidFill>
                <a:latin typeface="Space Mono"/>
              </a:rPr>
              <a:t>BROWSER-SAFE AI SYSTEMS WORKSHOP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81160" y="747979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6B2"/>
                </a:solidFill>
                <a:latin typeface="Space Mono"/>
              </a:rPr>
              <a:t>unattributed / instructor: stumble the drunk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14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743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86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00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15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229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144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58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72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887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801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3716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4630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9144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8288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36576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45720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64008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73152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82296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0" y="7818120"/>
            <a:ext cx="14630400" cy="73152"/>
          </a:xfrm>
          <a:prstGeom prst="rect">
            <a:avLst/>
          </a:prstGeom>
          <a:solidFill>
            <a:srgbClr val="4D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1206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4DE1FF"/>
                </a:solidFill>
                <a:latin typeface="Space Mono"/>
              </a:rPr>
              <a:t>LAB 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896112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6EDF5"/>
                </a:solidFill>
                <a:latin typeface="Space Grotesk"/>
              </a:rPr>
              <a:t>Environment and Target Setup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" y="1719072"/>
            <a:ext cx="598932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>
                <a:solidFill>
                  <a:srgbClr val="9AA6B2"/>
                </a:solidFill>
                <a:latin typeface="Space Grotesk"/>
              </a:rPr>
              <a:t>Prepare the local-only workshop environment before attack-vector work begins.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3063240"/>
            <a:ext cx="566928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E6EDF5"/>
                </a:solidFill>
                <a:latin typeface="Space Grotesk"/>
              </a:defRPr>
            </a:pPr>
            <a:r>
              <a:t>Verify Ollama and weak ollama-webui</a:t>
            </a:r>
          </a:p>
          <a:p>
            <a:pPr>
              <a:spcAft>
                <a:spcPts val="800"/>
              </a:spcAft>
              <a:defRPr sz="1900">
                <a:solidFill>
                  <a:srgbClr val="E6EDF5"/>
                </a:solidFill>
                <a:latin typeface="Space Grotesk"/>
              </a:defRPr>
            </a:pPr>
            <a:r>
              <a:t>Prepare Python, Playwright, browser, proxies</a:t>
            </a:r>
          </a:p>
          <a:p>
            <a:pPr>
              <a:spcAft>
                <a:spcPts val="800"/>
              </a:spcAft>
              <a:defRPr sz="1900">
                <a:solidFill>
                  <a:srgbClr val="E6EDF5"/>
                </a:solidFill>
                <a:latin typeface="Space Grotesk"/>
              </a:defRPr>
            </a:pPr>
            <a:r>
              <a:t>Create evidence root with manifest discipline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623560"/>
            <a:ext cx="5989320" cy="960120"/>
          </a:xfrm>
          <a:prstGeom prst="roundRect">
            <a:avLst/>
          </a:prstGeom>
          <a:solidFill>
            <a:srgbClr val="0C141E"/>
          </a:solidFill>
          <a:ln w="15240">
            <a:solidFill>
              <a:srgbClr val="2B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5623560"/>
            <a:ext cx="45720" cy="960120"/>
          </a:xfrm>
          <a:prstGeom prst="rect">
            <a:avLst/>
          </a:prstGeom>
          <a:solidFill>
            <a:srgbClr val="4D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824728"/>
            <a:ext cx="5532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4DE1FF"/>
                </a:solidFill>
                <a:latin typeface="Space Mono"/>
              </a:rPr>
              <a:t>COMPLETION SIGNAL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" y="6245352"/>
            <a:ext cx="5532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E6EDF5"/>
                </a:solidFill>
                <a:latin typeface="Space Grotesk"/>
              </a:rPr>
              <a:t>Preflight artifacts prove the workstation is ready.</a:t>
            </a:r>
          </a:p>
        </p:txBody>
      </p:sp>
      <p:pic>
        <p:nvPicPr>
          <p:cNvPr id="39" name="Picture 38" descr="lab-00-environment-and-target-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932688"/>
            <a:ext cx="6858000" cy="385762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58368" y="74797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9AA6B2"/>
                </a:solidFill>
                <a:latin typeface="Space Mono"/>
              </a:rPr>
              <a:t>BROWSER-SAFE AI SYSTEMS WORKSHOP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747979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6B2"/>
                </a:solidFill>
                <a:latin typeface="Space Mono"/>
              </a:rPr>
              <a:t>unattributed / instructor: stumble the drunk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14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743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86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00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15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229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144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58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72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887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801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3716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4630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9144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8288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36576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45720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64008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73152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82296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0" y="7818120"/>
            <a:ext cx="14630400" cy="73152"/>
          </a:xfrm>
          <a:prstGeom prst="rect">
            <a:avLst/>
          </a:prstGeom>
          <a:solidFill>
            <a:srgbClr val="B6F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1206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B6FF3B"/>
                </a:solidFill>
                <a:latin typeface="Space Mono"/>
              </a:rPr>
              <a:t>LAB 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896112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6EDF5"/>
                </a:solidFill>
                <a:latin typeface="Space Grotesk"/>
              </a:rPr>
              <a:t>Baseline Browser-AI Evidence Capture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" y="1719072"/>
            <a:ext cx="598932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>
                <a:solidFill>
                  <a:srgbClr val="9AA6B2"/>
                </a:solidFill>
                <a:latin typeface="Space Grotesk"/>
              </a:rPr>
              <a:t>Establish the proxy-first evidence workflow used throughout the workshop.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3063240"/>
            <a:ext cx="566928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E6EDF5"/>
                </a:solidFill>
                <a:latin typeface="Space Grotesk"/>
              </a:defRPr>
            </a:pPr>
            <a:r>
              <a:t>Start capture before target interaction</a:t>
            </a:r>
          </a:p>
          <a:p>
            <a:pPr>
              <a:spcAft>
                <a:spcPts val="800"/>
              </a:spcAft>
              <a:defRPr sz="1900">
                <a:solidFill>
                  <a:srgbClr val="E6EDF5"/>
                </a:solidFill>
                <a:latin typeface="Space Grotesk"/>
              </a:defRPr>
            </a:pPr>
            <a:r>
              <a:t>Submit baseline and student-authored variation</a:t>
            </a:r>
          </a:p>
          <a:p>
            <a:pPr>
              <a:spcAft>
                <a:spcPts val="800"/>
              </a:spcAft>
              <a:defRPr sz="1900">
                <a:solidFill>
                  <a:srgbClr val="E6EDF5"/>
                </a:solidFill>
                <a:latin typeface="Space Grotesk"/>
              </a:defRPr>
            </a:pPr>
            <a:r>
              <a:t>Preserve browser, proxy, model, and checksum evidence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623560"/>
            <a:ext cx="5989320" cy="960120"/>
          </a:xfrm>
          <a:prstGeom prst="roundRect">
            <a:avLst/>
          </a:prstGeom>
          <a:solidFill>
            <a:srgbClr val="0C141E"/>
          </a:solidFill>
          <a:ln w="15240">
            <a:solidFill>
              <a:srgbClr val="2B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5623560"/>
            <a:ext cx="45720" cy="960120"/>
          </a:xfrm>
          <a:prstGeom prst="rect">
            <a:avLst/>
          </a:prstGeom>
          <a:solidFill>
            <a:srgbClr val="B6F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824728"/>
            <a:ext cx="5532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B6FF3B"/>
                </a:solidFill>
                <a:latin typeface="Space Mono"/>
              </a:rPr>
              <a:t>COMPLETION SIGNAL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" y="6245352"/>
            <a:ext cx="5532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E6EDF5"/>
                </a:solidFill>
                <a:latin typeface="Space Grotesk"/>
              </a:rPr>
              <a:t>A replayable baseline evidence bundle.</a:t>
            </a:r>
          </a:p>
        </p:txBody>
      </p:sp>
      <p:pic>
        <p:nvPicPr>
          <p:cNvPr id="39" name="Picture 38" descr="lab-01-baseline-browser-ai-evidence-cap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932688"/>
            <a:ext cx="6858000" cy="385762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58368" y="74797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9AA6B2"/>
                </a:solidFill>
                <a:latin typeface="Space Mono"/>
              </a:rPr>
              <a:t>BROWSER-SAFE AI SYSTEMS WORKSHOP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747979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6B2"/>
                </a:solidFill>
                <a:latin typeface="Space Mono"/>
              </a:rPr>
              <a:t>unattributed / instructor: stumble the drunk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14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743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86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00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15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229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144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58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72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887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801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3716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4630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9144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8288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36576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45720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64008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73152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82296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0" y="7818120"/>
            <a:ext cx="14630400" cy="73152"/>
          </a:xfrm>
          <a:prstGeom prst="rect">
            <a:avLst/>
          </a:prstGeom>
          <a:solidFill>
            <a:srgbClr val="4D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1206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4DE1FF"/>
                </a:solidFill>
                <a:latin typeface="Space Mono"/>
              </a:rPr>
              <a:t>LAB 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896112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6EDF5"/>
                </a:solidFill>
                <a:latin typeface="Space Grotesk"/>
              </a:rPr>
              <a:t>Indirect Prompt Injection Through Browser Content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" y="1719072"/>
            <a:ext cx="598932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>
                <a:solidFill>
                  <a:srgbClr val="9AA6B2"/>
                </a:solidFill>
                <a:latin typeface="Space Grotesk"/>
              </a:rPr>
              <a:t>Test whether page-authored instructions enter model context as commands.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3063240"/>
            <a:ext cx="566928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E6EDF5"/>
                </a:solidFill>
                <a:latin typeface="Space Grotesk"/>
              </a:defRPr>
            </a:pPr>
            <a:r>
              <a:t>Generate synthetic page-content fixtures</a:t>
            </a:r>
          </a:p>
          <a:p>
            <a:pPr>
              <a:spcAft>
                <a:spcPts val="800"/>
              </a:spcAft>
              <a:defRPr sz="1900">
                <a:solidFill>
                  <a:srgbClr val="E6EDF5"/>
                </a:solidFill>
                <a:latin typeface="Space Grotesk"/>
              </a:defRPr>
            </a:pPr>
            <a:r>
              <a:t>Compare direct and proxied local responses</a:t>
            </a:r>
          </a:p>
          <a:p>
            <a:pPr>
              <a:spcAft>
                <a:spcPts val="800"/>
              </a:spcAft>
              <a:defRPr sz="1900">
                <a:solidFill>
                  <a:srgbClr val="E6EDF5"/>
                </a:solidFill>
                <a:latin typeface="Space Grotesk"/>
              </a:defRPr>
            </a:pPr>
            <a:r>
              <a:t>Label untrusted content as evidence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623560"/>
            <a:ext cx="5989320" cy="960120"/>
          </a:xfrm>
          <a:prstGeom prst="roundRect">
            <a:avLst/>
          </a:prstGeom>
          <a:solidFill>
            <a:srgbClr val="0C141E"/>
          </a:solidFill>
          <a:ln w="15240">
            <a:solidFill>
              <a:srgbClr val="2B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5623560"/>
            <a:ext cx="45720" cy="960120"/>
          </a:xfrm>
          <a:prstGeom prst="rect">
            <a:avLst/>
          </a:prstGeom>
          <a:solidFill>
            <a:srgbClr val="4D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824728"/>
            <a:ext cx="5532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4DE1FF"/>
                </a:solidFill>
                <a:latin typeface="Space Mono"/>
              </a:rPr>
              <a:t>COMPLETION SIGNAL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" y="6245352"/>
            <a:ext cx="5532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E6EDF5"/>
                </a:solidFill>
                <a:latin typeface="Space Grotesk"/>
              </a:rPr>
              <a:t>Finding explains whether page text changed behavior.</a:t>
            </a:r>
          </a:p>
        </p:txBody>
      </p:sp>
      <p:pic>
        <p:nvPicPr>
          <p:cNvPr id="39" name="Picture 38" descr="lab-02-indirect-prompt-injection-through-browser-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932688"/>
            <a:ext cx="6858000" cy="385762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58368" y="74797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9AA6B2"/>
                </a:solidFill>
                <a:latin typeface="Space Mono"/>
              </a:rPr>
              <a:t>BROWSER-SAFE AI SYSTEMS WORKSHOP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747979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6B2"/>
                </a:solidFill>
                <a:latin typeface="Space Mono"/>
              </a:rPr>
              <a:t>unattributed / instructor: stumble the drunk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14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743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86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00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15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229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144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58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72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887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801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3716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4630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9144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8288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36576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45720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64008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73152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82296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0" y="7818120"/>
            <a:ext cx="14630400" cy="73152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1206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F5B942"/>
                </a:solidFill>
                <a:latin typeface="Space Mono"/>
              </a:rPr>
              <a:t>LAB 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896112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6EDF5"/>
                </a:solidFill>
                <a:latin typeface="Space Grotesk"/>
              </a:rPr>
              <a:t>Hidden DOM and Low-Visibility Content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" y="1719072"/>
            <a:ext cx="598932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>
                <a:solidFill>
                  <a:srgbClr val="9AA6B2"/>
                </a:solidFill>
                <a:latin typeface="Space Grotesk"/>
              </a:rPr>
              <a:t>Expose hidden or low-visibility content that may influence AI review.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3063240"/>
            <a:ext cx="566928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E6EDF5"/>
                </a:solidFill>
                <a:latin typeface="Space Grotesk"/>
              </a:defRPr>
            </a:pPr>
            <a:r>
              <a:t>Compare source, DOM, visible text, styles, screenshot</a:t>
            </a:r>
          </a:p>
          <a:p>
            <a:pPr>
              <a:spcAft>
                <a:spcPts val="800"/>
              </a:spcAft>
              <a:defRPr sz="1900">
                <a:solidFill>
                  <a:srgbClr val="E6EDF5"/>
                </a:solidFill>
                <a:latin typeface="Space Grotesk"/>
              </a:defRPr>
            </a:pPr>
            <a:r>
              <a:t>Use synthetic markers only</a:t>
            </a:r>
          </a:p>
          <a:p>
            <a:pPr>
              <a:spcAft>
                <a:spcPts val="800"/>
              </a:spcAft>
              <a:defRPr sz="1900">
                <a:solidFill>
                  <a:srgbClr val="E6EDF5"/>
                </a:solidFill>
                <a:latin typeface="Space Grotesk"/>
              </a:defRPr>
            </a:pPr>
            <a:r>
              <a:t>Track provenance across artifacts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623560"/>
            <a:ext cx="5989320" cy="960120"/>
          </a:xfrm>
          <a:prstGeom prst="roundRect">
            <a:avLst/>
          </a:prstGeom>
          <a:solidFill>
            <a:srgbClr val="0C141E"/>
          </a:solidFill>
          <a:ln w="15240">
            <a:solidFill>
              <a:srgbClr val="2B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5623560"/>
            <a:ext cx="45720" cy="96012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824728"/>
            <a:ext cx="5532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5B942"/>
                </a:solidFill>
                <a:latin typeface="Space Mono"/>
              </a:rPr>
              <a:t>COMPLETION SIGNAL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" y="6245352"/>
            <a:ext cx="5532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E6EDF5"/>
                </a:solidFill>
                <a:latin typeface="Space Grotesk"/>
              </a:rPr>
              <a:t>Evidence shows what was visible and what was merely present.</a:t>
            </a:r>
          </a:p>
        </p:txBody>
      </p:sp>
      <p:pic>
        <p:nvPicPr>
          <p:cNvPr id="39" name="Picture 38" descr="lab-03-hidden-dom-and-low-visibility-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932688"/>
            <a:ext cx="6858000" cy="385762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58368" y="74797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9AA6B2"/>
                </a:solidFill>
                <a:latin typeface="Space Mono"/>
              </a:rPr>
              <a:t>BROWSER-SAFE AI SYSTEMS WORKSHOP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747979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6B2"/>
                </a:solidFill>
                <a:latin typeface="Space Mono"/>
              </a:rPr>
              <a:t>unattributed / instructor: stumble the drunk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14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743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86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00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15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229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144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58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72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887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801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3716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4630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9144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8288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36576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45720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64008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73152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82296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0" y="7818120"/>
            <a:ext cx="14630400" cy="73152"/>
          </a:xfrm>
          <a:prstGeom prst="rect">
            <a:avLst/>
          </a:prstGeom>
          <a:solidFill>
            <a:srgbClr val="59F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1206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59F2C7"/>
                </a:solidFill>
                <a:latin typeface="Space Mono"/>
              </a:rPr>
              <a:t>LAB 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896112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6EDF5"/>
                </a:solidFill>
                <a:latin typeface="Space Grotesk"/>
              </a:rPr>
              <a:t>DOM Versus Rendered-Page Mismatch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" y="1719072"/>
            <a:ext cx="598932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>
                <a:solidFill>
                  <a:srgbClr val="9AA6B2"/>
                </a:solidFill>
                <a:latin typeface="Space Grotesk"/>
              </a:rPr>
              <a:t>Separate DOM evidence from rendered-page evidence when they disagree.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3063240"/>
            <a:ext cx="566928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E6EDF5"/>
                </a:solidFill>
                <a:latin typeface="Space Grotesk"/>
              </a:defRPr>
            </a:pPr>
            <a:r>
              <a:t>Probe DOM-only and rendered contradictions</a:t>
            </a:r>
          </a:p>
          <a:p>
            <a:pPr>
              <a:spcAft>
                <a:spcPts val="800"/>
              </a:spcAft>
              <a:defRPr sz="1900">
                <a:solidFill>
                  <a:srgbClr val="E6EDF5"/>
                </a:solidFill>
                <a:latin typeface="Space Grotesk"/>
              </a:defRPr>
            </a:pPr>
            <a:r>
              <a:t>Compare screenshot, source, DOM, and model-bound context</a:t>
            </a:r>
          </a:p>
          <a:p>
            <a:pPr>
              <a:spcAft>
                <a:spcPts val="800"/>
              </a:spcAft>
              <a:defRPr sz="1900">
                <a:solidFill>
                  <a:srgbClr val="E6EDF5"/>
                </a:solidFill>
                <a:latin typeface="Space Grotesk"/>
              </a:defRPr>
            </a:pPr>
            <a:r>
              <a:t>Avoid trusting one evidence surface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623560"/>
            <a:ext cx="5989320" cy="960120"/>
          </a:xfrm>
          <a:prstGeom prst="roundRect">
            <a:avLst/>
          </a:prstGeom>
          <a:solidFill>
            <a:srgbClr val="0C141E"/>
          </a:solidFill>
          <a:ln w="15240">
            <a:solidFill>
              <a:srgbClr val="2B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5623560"/>
            <a:ext cx="45720" cy="960120"/>
          </a:xfrm>
          <a:prstGeom prst="rect">
            <a:avLst/>
          </a:prstGeom>
          <a:solidFill>
            <a:srgbClr val="59F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824728"/>
            <a:ext cx="5532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59F2C7"/>
                </a:solidFill>
                <a:latin typeface="Space Mono"/>
              </a:rPr>
              <a:t>COMPLETION SIGNAL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" y="6245352"/>
            <a:ext cx="5532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E6EDF5"/>
                </a:solidFill>
                <a:latin typeface="Space Grotesk"/>
              </a:rPr>
              <a:t>Reviewer can see which representation drove the conclusion.</a:t>
            </a:r>
          </a:p>
        </p:txBody>
      </p:sp>
      <p:pic>
        <p:nvPicPr>
          <p:cNvPr id="39" name="Picture 38" descr="lab-04-dom-versus-rendered-page-mism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932688"/>
            <a:ext cx="6858000" cy="385762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58368" y="74797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9AA6B2"/>
                </a:solidFill>
                <a:latin typeface="Space Mono"/>
              </a:rPr>
              <a:t>BROWSER-SAFE AI SYSTEMS WORKSHOP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747979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6B2"/>
                </a:solidFill>
                <a:latin typeface="Space Mono"/>
              </a:rPr>
              <a:t>unattributed / instructor: stumble the drunk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14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743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86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00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15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229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144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58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72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887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801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3716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4630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9144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8288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36576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45720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64008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73152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82296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0" y="7818120"/>
            <a:ext cx="14630400" cy="73152"/>
          </a:xfrm>
          <a:prstGeom prst="rect">
            <a:avLst/>
          </a:prstGeom>
          <a:solidFill>
            <a:srgbClr val="4D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1206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4DE1FF"/>
                </a:solidFill>
                <a:latin typeface="Space Mono"/>
              </a:rPr>
              <a:t>LAB 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896112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6EDF5"/>
                </a:solidFill>
                <a:latin typeface="Space Grotesk"/>
              </a:rPr>
              <a:t>Screenshot and Visual Deception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" y="1719072"/>
            <a:ext cx="598932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>
                <a:solidFill>
                  <a:srgbClr val="9AA6B2"/>
                </a:solidFill>
                <a:latin typeface="Space Grotesk"/>
              </a:rPr>
              <a:t>Validate screenshot and visual-deception risks in browser-AI workflows.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3063240"/>
            <a:ext cx="566928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E6EDF5"/>
                </a:solidFill>
                <a:latin typeface="Space Grotesk"/>
              </a:defRPr>
            </a:pPr>
            <a:r>
              <a:t>Generate visual deception fixtures</a:t>
            </a:r>
          </a:p>
          <a:p>
            <a:pPr>
              <a:spcAft>
                <a:spcPts val="800"/>
              </a:spcAft>
              <a:defRPr sz="1900">
                <a:solidFill>
                  <a:srgbClr val="E6EDF5"/>
                </a:solidFill>
                <a:latin typeface="Space Grotesk"/>
              </a:defRPr>
            </a:pPr>
            <a:r>
              <a:t>Compare visual, OCR, DOM, alt text, and HTTP evidence</a:t>
            </a:r>
          </a:p>
          <a:p>
            <a:pPr>
              <a:spcAft>
                <a:spcPts val="800"/>
              </a:spcAft>
              <a:defRPr sz="1900">
                <a:solidFill>
                  <a:srgbClr val="E6EDF5"/>
                </a:solidFill>
                <a:latin typeface="Space Grotesk"/>
              </a:defRPr>
            </a:pPr>
            <a:r>
              <a:t>Treat vision output as derived evidence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623560"/>
            <a:ext cx="5989320" cy="960120"/>
          </a:xfrm>
          <a:prstGeom prst="roundRect">
            <a:avLst/>
          </a:prstGeom>
          <a:solidFill>
            <a:srgbClr val="0C141E"/>
          </a:solidFill>
          <a:ln w="15240">
            <a:solidFill>
              <a:srgbClr val="2B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5623560"/>
            <a:ext cx="45720" cy="960120"/>
          </a:xfrm>
          <a:prstGeom prst="rect">
            <a:avLst/>
          </a:prstGeom>
          <a:solidFill>
            <a:srgbClr val="4D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824728"/>
            <a:ext cx="5532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4DE1FF"/>
                </a:solidFill>
                <a:latin typeface="Space Mono"/>
              </a:rPr>
              <a:t>COMPLETION SIGNAL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" y="6245352"/>
            <a:ext cx="5532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E6EDF5"/>
                </a:solidFill>
                <a:latin typeface="Space Grotesk"/>
              </a:rPr>
              <a:t>Report explains whether visual evidence misled the workflow.</a:t>
            </a:r>
          </a:p>
        </p:txBody>
      </p:sp>
      <p:pic>
        <p:nvPicPr>
          <p:cNvPr id="39" name="Picture 38" descr="lab-05-screenshot-and-visual-dece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932688"/>
            <a:ext cx="6858000" cy="385762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58368" y="74797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9AA6B2"/>
                </a:solidFill>
                <a:latin typeface="Space Mono"/>
              </a:rPr>
              <a:t>BROWSER-SAFE AI SYSTEMS WORKSHOP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747979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6B2"/>
                </a:solidFill>
                <a:latin typeface="Space Mono"/>
              </a:rPr>
              <a:t>unattributed / instructor: stumble the drunk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14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743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86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00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15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229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144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58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72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887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801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3716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4630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9144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8288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36576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45720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64008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73152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82296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0" y="7818120"/>
            <a:ext cx="14630400" cy="73152"/>
          </a:xfrm>
          <a:prstGeom prst="rect">
            <a:avLst/>
          </a:prstGeom>
          <a:solidFill>
            <a:srgbClr val="B6F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1206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B6FF3B"/>
                </a:solidFill>
                <a:latin typeface="Space Mono"/>
              </a:rPr>
              <a:t>LAB 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896112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6EDF5"/>
                </a:solidFill>
                <a:latin typeface="Space Grotesk"/>
              </a:rPr>
              <a:t>iframe and Frame-Tree Source Confusion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" y="1719072"/>
            <a:ext cx="598932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>
                <a:solidFill>
                  <a:srgbClr val="9AA6B2"/>
                </a:solidFill>
                <a:latin typeface="Space Grotesk"/>
              </a:rPr>
              <a:t>Capture frame provenance when content spans nested browsing contexts.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3063240"/>
            <a:ext cx="566928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E6EDF5"/>
                </a:solidFill>
                <a:latin typeface="Space Grotesk"/>
              </a:defRPr>
            </a:pPr>
            <a:r>
              <a:t>Record top page and child frames</a:t>
            </a:r>
          </a:p>
          <a:p>
            <a:pPr>
              <a:spcAft>
                <a:spcPts val="800"/>
              </a:spcAft>
              <a:defRPr sz="1900">
                <a:solidFill>
                  <a:srgbClr val="E6EDF5"/>
                </a:solidFill>
                <a:latin typeface="Space Grotesk"/>
              </a:defRPr>
            </a:pPr>
            <a:r>
              <a:t>Inspect sandbox, srcdoc, URLs, and frame DOM</a:t>
            </a:r>
          </a:p>
          <a:p>
            <a:pPr>
              <a:spcAft>
                <a:spcPts val="800"/>
              </a:spcAft>
              <a:defRPr sz="1900">
                <a:solidFill>
                  <a:srgbClr val="E6EDF5"/>
                </a:solidFill>
                <a:latin typeface="Space Grotesk"/>
              </a:defRPr>
            </a:pPr>
            <a:r>
              <a:t>Separate top-page text from frame-owned text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623560"/>
            <a:ext cx="5989320" cy="960120"/>
          </a:xfrm>
          <a:prstGeom prst="roundRect">
            <a:avLst/>
          </a:prstGeom>
          <a:solidFill>
            <a:srgbClr val="0C141E"/>
          </a:solidFill>
          <a:ln w="15240">
            <a:solidFill>
              <a:srgbClr val="2B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5623560"/>
            <a:ext cx="45720" cy="960120"/>
          </a:xfrm>
          <a:prstGeom prst="rect">
            <a:avLst/>
          </a:prstGeom>
          <a:solidFill>
            <a:srgbClr val="B6F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824728"/>
            <a:ext cx="5532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B6FF3B"/>
                </a:solidFill>
                <a:latin typeface="Space Mono"/>
              </a:rPr>
              <a:t>COMPLETION SIGNAL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" y="6245352"/>
            <a:ext cx="5532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E6EDF5"/>
                </a:solidFill>
                <a:latin typeface="Space Grotesk"/>
              </a:rPr>
              <a:t>Frame-tree artifacts prove source attribution.</a:t>
            </a:r>
          </a:p>
        </p:txBody>
      </p:sp>
      <p:pic>
        <p:nvPicPr>
          <p:cNvPr id="39" name="Picture 38" descr="lab-06-iframe-and-frame-tree-source-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932688"/>
            <a:ext cx="6858000" cy="385762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58368" y="74797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9AA6B2"/>
                </a:solidFill>
                <a:latin typeface="Space Mono"/>
              </a:rPr>
              <a:t>BROWSER-SAFE AI SYSTEMS WORKSHOP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747979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6B2"/>
                </a:solidFill>
                <a:latin typeface="Space Mono"/>
              </a:rPr>
              <a:t>unattributed / instructor: stumble the drunk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14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743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86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00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15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229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144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58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72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887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801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3716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4630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9144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8288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36576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45720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64008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73152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82296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0" y="7818120"/>
            <a:ext cx="14630400" cy="73152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1206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F5B942"/>
                </a:solidFill>
                <a:latin typeface="Space Mono"/>
              </a:rPr>
              <a:t>LAB 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896112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6EDF5"/>
                </a:solidFill>
                <a:latin typeface="Space Grotesk"/>
              </a:rPr>
              <a:t>Delayed Content and State Transition Risk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" y="1719072"/>
            <a:ext cx="598932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>
                <a:solidFill>
                  <a:srgbClr val="9AA6B2"/>
                </a:solidFill>
                <a:latin typeface="Space Grotesk"/>
              </a:rPr>
              <a:t>Show why time, interaction, and browser state change evidence.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3063240"/>
            <a:ext cx="566928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E6EDF5"/>
                </a:solidFill>
                <a:latin typeface="Space Grotesk"/>
              </a:defRPr>
            </a:pPr>
            <a:r>
              <a:t>Trigger timed, click, scroll, route, and storage changes</a:t>
            </a:r>
          </a:p>
          <a:p>
            <a:pPr>
              <a:spcAft>
                <a:spcPts val="800"/>
              </a:spcAft>
              <a:defRPr sz="1900">
                <a:solidFill>
                  <a:srgbClr val="E6EDF5"/>
                </a:solidFill>
                <a:latin typeface="Space Grotesk"/>
              </a:defRPr>
            </a:pPr>
            <a:r>
              <a:t>Capture before and after states</a:t>
            </a:r>
          </a:p>
          <a:p>
            <a:pPr>
              <a:spcAft>
                <a:spcPts val="800"/>
              </a:spcAft>
              <a:defRPr sz="1900">
                <a:solidFill>
                  <a:srgbClr val="E6EDF5"/>
                </a:solidFill>
                <a:latin typeface="Space Grotesk"/>
              </a:defRPr>
            </a:pPr>
            <a:r>
              <a:t>Record which state entered model context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623560"/>
            <a:ext cx="5989320" cy="960120"/>
          </a:xfrm>
          <a:prstGeom prst="roundRect">
            <a:avLst/>
          </a:prstGeom>
          <a:solidFill>
            <a:srgbClr val="0C141E"/>
          </a:solidFill>
          <a:ln w="15240">
            <a:solidFill>
              <a:srgbClr val="2B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5623560"/>
            <a:ext cx="45720" cy="96012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824728"/>
            <a:ext cx="5532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5B942"/>
                </a:solidFill>
                <a:latin typeface="Space Mono"/>
              </a:rPr>
              <a:t>COMPLETION SIGNAL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" y="6245352"/>
            <a:ext cx="5532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E6EDF5"/>
                </a:solidFill>
                <a:latin typeface="Space Grotesk"/>
              </a:rPr>
              <a:t>Timeline evidence prevents false certainty.</a:t>
            </a:r>
          </a:p>
        </p:txBody>
      </p:sp>
      <p:pic>
        <p:nvPicPr>
          <p:cNvPr id="39" name="Picture 38" descr="lab-07-delayed-content-and-state-transition-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932688"/>
            <a:ext cx="6858000" cy="385762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58368" y="74797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9AA6B2"/>
                </a:solidFill>
                <a:latin typeface="Space Mono"/>
              </a:rPr>
              <a:t>BROWSER-SAFE AI SYSTEMS WORKSHOP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747979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6B2"/>
                </a:solidFill>
                <a:latin typeface="Space Mono"/>
              </a:rPr>
              <a:t>unattributed / instructor: stumble the drunk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14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743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86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00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15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229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144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58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72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887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801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3716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4630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9144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8288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36576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45720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64008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73152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82296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0" y="7818120"/>
            <a:ext cx="14630400" cy="73152"/>
          </a:xfrm>
          <a:prstGeom prst="rect">
            <a:avLst/>
          </a:prstGeom>
          <a:solidFill>
            <a:srgbClr val="59F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1206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59F2C7"/>
                </a:solidFill>
                <a:latin typeface="Space Mono"/>
              </a:rPr>
              <a:t>LAB 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896112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6EDF5"/>
                </a:solidFill>
                <a:latin typeface="Space Grotesk"/>
              </a:rPr>
              <a:t>QR Handoff and Off-Browser Transition Risk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" y="1719072"/>
            <a:ext cx="598932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>
                <a:solidFill>
                  <a:srgbClr val="9AA6B2"/>
                </a:solidFill>
                <a:latin typeface="Space Grotesk"/>
              </a:rPr>
              <a:t>Inspect QR and off-browser handoffs as untrusted transitions.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3063240"/>
            <a:ext cx="566928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E6EDF5"/>
                </a:solidFill>
                <a:latin typeface="Space Grotesk"/>
              </a:defRPr>
            </a:pPr>
            <a:r>
              <a:t>Capture QR-style visual evidence</a:t>
            </a:r>
          </a:p>
          <a:p>
            <a:pPr>
              <a:spcAft>
                <a:spcPts val="800"/>
              </a:spcAft>
              <a:defRPr sz="1900">
                <a:solidFill>
                  <a:srgbClr val="E6EDF5"/>
                </a:solidFill>
                <a:latin typeface="Space Grotesk"/>
              </a:defRPr>
            </a:pPr>
            <a:r>
              <a:t>Inspect decoded local destination</a:t>
            </a:r>
          </a:p>
          <a:p>
            <a:pPr>
              <a:spcAft>
                <a:spcPts val="800"/>
              </a:spcAft>
              <a:defRPr sz="1900">
                <a:solidFill>
                  <a:srgbClr val="E6EDF5"/>
                </a:solidFill>
                <a:latin typeface="Space Grotesk"/>
              </a:defRPr>
            </a:pPr>
            <a:r>
              <a:t>Follow local redirect hops only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623560"/>
            <a:ext cx="5989320" cy="960120"/>
          </a:xfrm>
          <a:prstGeom prst="roundRect">
            <a:avLst/>
          </a:prstGeom>
          <a:solidFill>
            <a:srgbClr val="0C141E"/>
          </a:solidFill>
          <a:ln w="15240">
            <a:solidFill>
              <a:srgbClr val="2B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5623560"/>
            <a:ext cx="45720" cy="960120"/>
          </a:xfrm>
          <a:prstGeom prst="rect">
            <a:avLst/>
          </a:prstGeom>
          <a:solidFill>
            <a:srgbClr val="59F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824728"/>
            <a:ext cx="5532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59F2C7"/>
                </a:solidFill>
                <a:latin typeface="Space Mono"/>
              </a:rPr>
              <a:t>COMPLETION SIGNAL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" y="6245352"/>
            <a:ext cx="5532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E6EDF5"/>
                </a:solidFill>
                <a:latin typeface="Space Grotesk"/>
              </a:rPr>
              <a:t>Decoded destination and page label are compared.</a:t>
            </a:r>
          </a:p>
        </p:txBody>
      </p:sp>
      <p:pic>
        <p:nvPicPr>
          <p:cNvPr id="39" name="Picture 38" descr="lab-08-qr-handoff-and-off-browser-transition-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932688"/>
            <a:ext cx="6858000" cy="385762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58368" y="74797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9AA6B2"/>
                </a:solidFill>
                <a:latin typeface="Space Mono"/>
              </a:rPr>
              <a:t>BROWSER-SAFE AI SYSTEMS WORKSHOP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747979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6B2"/>
                </a:solidFill>
                <a:latin typeface="Space Mono"/>
              </a:rPr>
              <a:t>unattributed / instructor: stumble the drunk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14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743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86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00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15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229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144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58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72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887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801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3716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4630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9144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8288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36576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45720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64008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73152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82296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0" y="7818120"/>
            <a:ext cx="14630400" cy="73152"/>
          </a:xfrm>
          <a:prstGeom prst="rect">
            <a:avLst/>
          </a:prstGeom>
          <a:solidFill>
            <a:srgbClr val="4D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1206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4DE1FF"/>
                </a:solidFill>
                <a:latin typeface="Space Mono"/>
              </a:rPr>
              <a:t>LAB 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896112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6EDF5"/>
                </a:solidFill>
                <a:latin typeface="Space Grotesk"/>
              </a:rPr>
              <a:t>Synthetic Sensitive-Data Handling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" y="1719072"/>
            <a:ext cx="598932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>
                <a:solidFill>
                  <a:srgbClr val="9AA6B2"/>
                </a:solidFill>
                <a:latin typeface="Space Grotesk"/>
              </a:rPr>
              <a:t>Handle synthetic sensitive data without leaking or overclaiming protection.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3063240"/>
            <a:ext cx="566928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E6EDF5"/>
                </a:solidFill>
                <a:latin typeface="Space Grotesk"/>
              </a:defRPr>
            </a:pPr>
            <a:r>
              <a:t>Track fake tokens and seeded markers</a:t>
            </a:r>
          </a:p>
          <a:p>
            <a:pPr>
              <a:spcAft>
                <a:spcPts val="800"/>
              </a:spcAft>
              <a:defRPr sz="1900">
                <a:solidFill>
                  <a:srgbClr val="E6EDF5"/>
                </a:solidFill>
                <a:latin typeface="Space Grotesk"/>
              </a:defRPr>
            </a:pPr>
            <a:r>
              <a:t>Compare raw evidence with redacted previews</a:t>
            </a:r>
          </a:p>
          <a:p>
            <a:pPr>
              <a:spcAft>
                <a:spcPts val="800"/>
              </a:spcAft>
              <a:defRPr sz="1900">
                <a:solidFill>
                  <a:srgbClr val="E6EDF5"/>
                </a:solidFill>
                <a:latin typeface="Space Grotesk"/>
              </a:defRPr>
            </a:pPr>
            <a:r>
              <a:t>Verify context excludes raw seeded values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623560"/>
            <a:ext cx="5989320" cy="960120"/>
          </a:xfrm>
          <a:prstGeom prst="roundRect">
            <a:avLst/>
          </a:prstGeom>
          <a:solidFill>
            <a:srgbClr val="0C141E"/>
          </a:solidFill>
          <a:ln w="15240">
            <a:solidFill>
              <a:srgbClr val="2B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5623560"/>
            <a:ext cx="45720" cy="960120"/>
          </a:xfrm>
          <a:prstGeom prst="rect">
            <a:avLst/>
          </a:prstGeom>
          <a:solidFill>
            <a:srgbClr val="4D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824728"/>
            <a:ext cx="5532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4DE1FF"/>
                </a:solidFill>
                <a:latin typeface="Space Mono"/>
              </a:rPr>
              <a:t>COMPLETION SIGNAL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" y="6245352"/>
            <a:ext cx="5532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E6EDF5"/>
                </a:solidFill>
                <a:latin typeface="Space Grotesk"/>
              </a:rPr>
              <a:t>Artifacts prove redaction behavior using fake data.</a:t>
            </a:r>
          </a:p>
        </p:txBody>
      </p:sp>
      <p:pic>
        <p:nvPicPr>
          <p:cNvPr id="39" name="Picture 38" descr="lab-09-synthetic-sensitive-data-hand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932688"/>
            <a:ext cx="6858000" cy="385762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58368" y="74797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9AA6B2"/>
                </a:solidFill>
                <a:latin typeface="Space Mono"/>
              </a:rPr>
              <a:t>BROWSER-SAFE AI SYSTEMS WORKSHOP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747979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6B2"/>
                </a:solidFill>
                <a:latin typeface="Space Mono"/>
              </a:rPr>
              <a:t>unattributed / instructor: stumble the drunk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14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743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86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00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15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229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144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58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72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887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801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3716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4630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9144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8288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36576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45720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64008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73152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82296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0" y="7818120"/>
            <a:ext cx="14630400" cy="73152"/>
          </a:xfrm>
          <a:prstGeom prst="rect">
            <a:avLst/>
          </a:prstGeom>
          <a:solidFill>
            <a:srgbClr val="B6F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1206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B6FF3B"/>
                </a:solidFill>
                <a:latin typeface="Space Mono"/>
              </a:rPr>
              <a:t>LAB 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896112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6EDF5"/>
                </a:solidFill>
                <a:latin typeface="Space Grotesk"/>
              </a:rPr>
              <a:t>Model Verdict Manipulation and Policy Simulator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" y="1719072"/>
            <a:ext cx="598932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>
                <a:solidFill>
                  <a:srgbClr val="9AA6B2"/>
                </a:solidFill>
                <a:latin typeface="Space Grotesk"/>
              </a:rPr>
              <a:t>Separate browser-observed facts from AI-generated verdict wording.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3063240"/>
            <a:ext cx="566928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E6EDF5"/>
                </a:solidFill>
                <a:latin typeface="Space Grotesk"/>
              </a:defRPr>
            </a:pPr>
            <a:r>
              <a:t>Run controlled verdict-manipulation inputs</a:t>
            </a:r>
          </a:p>
          <a:p>
            <a:pPr>
              <a:spcAft>
                <a:spcPts val="800"/>
              </a:spcAft>
              <a:defRPr sz="1900">
                <a:solidFill>
                  <a:srgbClr val="E6EDF5"/>
                </a:solidFill>
                <a:latin typeface="Space Grotesk"/>
              </a:defRPr>
            </a:pPr>
            <a:r>
              <a:t>Compare model-bound context with policy-simulator output</a:t>
            </a:r>
          </a:p>
          <a:p>
            <a:pPr>
              <a:spcAft>
                <a:spcPts val="800"/>
              </a:spcAft>
              <a:defRPr sz="1900">
                <a:solidFill>
                  <a:srgbClr val="E6EDF5"/>
                </a:solidFill>
                <a:latin typeface="Space Grotesk"/>
              </a:defRPr>
            </a:pPr>
            <a:r>
              <a:t>Keep model prose out of enforcement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623560"/>
            <a:ext cx="5989320" cy="960120"/>
          </a:xfrm>
          <a:prstGeom prst="roundRect">
            <a:avLst/>
          </a:prstGeom>
          <a:solidFill>
            <a:srgbClr val="0C141E"/>
          </a:solidFill>
          <a:ln w="15240">
            <a:solidFill>
              <a:srgbClr val="2B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5623560"/>
            <a:ext cx="45720" cy="960120"/>
          </a:xfrm>
          <a:prstGeom prst="rect">
            <a:avLst/>
          </a:prstGeom>
          <a:solidFill>
            <a:srgbClr val="B6F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824728"/>
            <a:ext cx="5532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B6FF3B"/>
                </a:solidFill>
                <a:latin typeface="Space Mono"/>
              </a:rPr>
              <a:t>COMPLETION SIGNAL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" y="6245352"/>
            <a:ext cx="5532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E6EDF5"/>
                </a:solidFill>
                <a:latin typeface="Space Grotesk"/>
              </a:rPr>
              <a:t>Verdict changes are explained by artifacts, not trust.</a:t>
            </a:r>
          </a:p>
        </p:txBody>
      </p:sp>
      <p:pic>
        <p:nvPicPr>
          <p:cNvPr id="39" name="Picture 38" descr="lab-10-model-verdict-manipulation-and-policy-simul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932688"/>
            <a:ext cx="6858000" cy="385762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58368" y="74797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9AA6B2"/>
                </a:solidFill>
                <a:latin typeface="Space Mono"/>
              </a:rPr>
              <a:t>BROWSER-SAFE AI SYSTEMS WORKSHOP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747979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6B2"/>
                </a:solidFill>
                <a:latin typeface="Space Mono"/>
              </a:rPr>
              <a:t>unattributed / instructor: stumble the drunk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14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743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86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00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15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229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144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58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72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887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801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3716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4630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9144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8288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36576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45720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64008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73152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82296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0" y="7818120"/>
            <a:ext cx="14630400" cy="73152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1206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F5B942"/>
                </a:solidFill>
                <a:latin typeface="Space Mono"/>
              </a:rPr>
              <a:t>LAB 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896112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6EDF5"/>
                </a:solidFill>
                <a:latin typeface="Space Grotesk"/>
              </a:rPr>
              <a:t>Fail-Open Pressure and Exception Abuse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" y="1719072"/>
            <a:ext cx="598932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>
                <a:solidFill>
                  <a:srgbClr val="9AA6B2"/>
                </a:solidFill>
                <a:latin typeface="Space Grotesk"/>
              </a:rPr>
              <a:t>Prevent missing evidence, pressure, or exceptions from becoming allow decisions.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3063240"/>
            <a:ext cx="566928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E6EDF5"/>
                </a:solidFill>
                <a:latin typeface="Space Grotesk"/>
              </a:defRPr>
            </a:pPr>
            <a:r>
              <a:t>Run fail-open and exception-abuse fixtures</a:t>
            </a:r>
          </a:p>
          <a:p>
            <a:pPr>
              <a:spcAft>
                <a:spcPts val="800"/>
              </a:spcAft>
              <a:defRPr sz="1900">
                <a:solidFill>
                  <a:srgbClr val="E6EDF5"/>
                </a:solidFill>
                <a:latin typeface="Space Grotesk"/>
              </a:defRPr>
            </a:pPr>
            <a:r>
              <a:t>Check scope, owner, expiry, and review requirements</a:t>
            </a:r>
          </a:p>
          <a:p>
            <a:pPr>
              <a:spcAft>
                <a:spcPts val="800"/>
              </a:spcAft>
              <a:defRPr sz="1900">
                <a:solidFill>
                  <a:srgbClr val="E6EDF5"/>
                </a:solidFill>
                <a:latin typeface="Space Grotesk"/>
              </a:defRPr>
            </a:pPr>
            <a:r>
              <a:t>Distinguish uncertainty from safety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623560"/>
            <a:ext cx="5989320" cy="960120"/>
          </a:xfrm>
          <a:prstGeom prst="roundRect">
            <a:avLst/>
          </a:prstGeom>
          <a:solidFill>
            <a:srgbClr val="0C141E"/>
          </a:solidFill>
          <a:ln w="15240">
            <a:solidFill>
              <a:srgbClr val="2B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5623560"/>
            <a:ext cx="45720" cy="96012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824728"/>
            <a:ext cx="5532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5B942"/>
                </a:solidFill>
                <a:latin typeface="Space Mono"/>
              </a:rPr>
              <a:t>COMPLETION SIGNAL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" y="6245352"/>
            <a:ext cx="5532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E6EDF5"/>
                </a:solidFill>
                <a:latin typeface="Space Grotesk"/>
              </a:rPr>
              <a:t>Exception decisions remain governed and auditable.</a:t>
            </a:r>
          </a:p>
        </p:txBody>
      </p:sp>
      <p:pic>
        <p:nvPicPr>
          <p:cNvPr id="39" name="Picture 38" descr="lab-11-fail-open-pressure-and-exception-ab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932688"/>
            <a:ext cx="6858000" cy="385762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58368" y="74797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9AA6B2"/>
                </a:solidFill>
                <a:latin typeface="Space Mono"/>
              </a:rPr>
              <a:t>BROWSER-SAFE AI SYSTEMS WORKSHOP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747979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6B2"/>
                </a:solidFill>
                <a:latin typeface="Space Mono"/>
              </a:rPr>
              <a:t>unattributed / instructor: stumble the drunk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14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743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86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00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15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229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144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58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72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887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801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3716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4630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9144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8288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36576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45720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64008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73152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82296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0" y="7818120"/>
            <a:ext cx="14630400" cy="73152"/>
          </a:xfrm>
          <a:prstGeom prst="rect">
            <a:avLst/>
          </a:prstGeom>
          <a:solidFill>
            <a:srgbClr val="59F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1206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59F2C7"/>
                </a:solidFill>
                <a:latin typeface="Space Mono"/>
              </a:rPr>
              <a:t>LAB 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896112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E6EDF5"/>
                </a:solidFill>
                <a:latin typeface="Space Grotesk"/>
              </a:rPr>
              <a:t>Capstone Attack Chain Evidence Package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" y="1719072"/>
            <a:ext cx="598932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>
                <a:solidFill>
                  <a:srgbClr val="9AA6B2"/>
                </a:solidFill>
                <a:latin typeface="Space Grotesk"/>
              </a:rPr>
              <a:t>Assemble a reviewer-grade evidence package across the lab track.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3063240"/>
            <a:ext cx="566928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E6EDF5"/>
                </a:solidFill>
                <a:latin typeface="Space Grotesk"/>
              </a:defRPr>
            </a:pPr>
            <a:r>
              <a:t>Declare scope and limitations</a:t>
            </a:r>
          </a:p>
          <a:p>
            <a:pPr>
              <a:spcAft>
                <a:spcPts val="800"/>
              </a:spcAft>
              <a:defRPr sz="1900">
                <a:solidFill>
                  <a:srgbClr val="E6EDF5"/>
                </a:solidFill>
                <a:latin typeface="Space Grotesk"/>
              </a:defRPr>
            </a:pPr>
            <a:r>
              <a:t>Tie together provenance, model, policy, and analyst evidence</a:t>
            </a:r>
          </a:p>
          <a:p>
            <a:pPr>
              <a:spcAft>
                <a:spcPts val="800"/>
              </a:spcAft>
              <a:defRPr sz="1900">
                <a:solidFill>
                  <a:srgbClr val="E6EDF5"/>
                </a:solidFill>
                <a:latin typeface="Space Grotesk"/>
              </a:defRPr>
            </a:pPr>
            <a:r>
              <a:t>Produce finding report, manifest, and checksums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623560"/>
            <a:ext cx="5989320" cy="960120"/>
          </a:xfrm>
          <a:prstGeom prst="roundRect">
            <a:avLst/>
          </a:prstGeom>
          <a:solidFill>
            <a:srgbClr val="0C141E"/>
          </a:solidFill>
          <a:ln w="15240">
            <a:solidFill>
              <a:srgbClr val="2B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5623560"/>
            <a:ext cx="45720" cy="960120"/>
          </a:xfrm>
          <a:prstGeom prst="rect">
            <a:avLst/>
          </a:prstGeom>
          <a:solidFill>
            <a:srgbClr val="59F2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824728"/>
            <a:ext cx="5532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59F2C7"/>
                </a:solidFill>
                <a:latin typeface="Space Mono"/>
              </a:rPr>
              <a:t>COMPLETION SIGNAL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" y="6245352"/>
            <a:ext cx="5532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E6EDF5"/>
                </a:solidFill>
                <a:latin typeface="Space Grotesk"/>
              </a:rPr>
              <a:t>Capstone package can be replayed by another reviewer.</a:t>
            </a:r>
          </a:p>
        </p:txBody>
      </p:sp>
      <p:pic>
        <p:nvPicPr>
          <p:cNvPr id="39" name="Picture 38" descr="lab-12-capstone-attack-chain-evidence-pack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932688"/>
            <a:ext cx="6858000" cy="385762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58368" y="74797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9AA6B2"/>
                </a:solidFill>
                <a:latin typeface="Space Mono"/>
              </a:rPr>
              <a:t>BROWSER-SAFE AI SYSTEMS WORKSHOP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747979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6B2"/>
                </a:solidFill>
                <a:latin typeface="Space Mono"/>
              </a:rPr>
              <a:t>unattributed / instructor: stumble the drunk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14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828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743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86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00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15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229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144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58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728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8872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8016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37160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4630400" y="0"/>
            <a:ext cx="0" cy="822960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9144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8288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7432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36576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45720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54864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64008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73152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8229600"/>
            <a:ext cx="14630400" cy="0"/>
          </a:xfrm>
          <a:prstGeom prst="line">
            <a:avLst/>
          </a:prstGeom>
          <a:ln w="6350">
            <a:solidFill>
              <a:srgbClr val="1C2A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0" y="7818120"/>
            <a:ext cx="14630400" cy="73152"/>
          </a:xfrm>
          <a:prstGeom prst="rect">
            <a:avLst/>
          </a:prstGeom>
          <a:solidFill>
            <a:srgbClr val="B6F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943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B6FF3B"/>
                </a:solidFill>
                <a:latin typeface="Space Mono"/>
              </a:rPr>
              <a:t>FINAL PACKAGE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1005840"/>
            <a:ext cx="9875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E6EDF5"/>
                </a:solidFill>
                <a:latin typeface="Space Grotesk"/>
              </a:rPr>
              <a:t>What a complete student submission contains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1920240"/>
            <a:ext cx="3931920" cy="1463040"/>
          </a:xfrm>
          <a:prstGeom prst="roundRect">
            <a:avLst/>
          </a:prstGeom>
          <a:solidFill>
            <a:srgbClr val="0C141E"/>
          </a:solidFill>
          <a:ln w="15240">
            <a:solidFill>
              <a:srgbClr val="2B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" y="1920240"/>
            <a:ext cx="45720" cy="1463040"/>
          </a:xfrm>
          <a:prstGeom prst="rect">
            <a:avLst/>
          </a:prstGeom>
          <a:solidFill>
            <a:srgbClr val="4DE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8992" y="212140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4DE1FF"/>
                </a:solidFill>
                <a:latin typeface="Space Mono"/>
              </a:rPr>
              <a:t>ARTIFACTS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" y="2542032"/>
            <a:ext cx="3474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E6EDF5"/>
                </a:solidFill>
                <a:latin typeface="Space Grotesk"/>
              </a:rPr>
              <a:t>raw target responses, browser evidence, proxy logs, model streams, runner output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257800" y="1920240"/>
            <a:ext cx="3931920" cy="1463040"/>
          </a:xfrm>
          <a:prstGeom prst="roundRect">
            <a:avLst/>
          </a:prstGeom>
          <a:solidFill>
            <a:srgbClr val="0C141E"/>
          </a:solidFill>
          <a:ln w="15240">
            <a:solidFill>
              <a:srgbClr val="2B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257800" y="1920240"/>
            <a:ext cx="45720" cy="146304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13832" y="212140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F5B942"/>
                </a:solidFill>
                <a:latin typeface="Space Mono"/>
              </a:rPr>
              <a:t>INTEGRITY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13832" y="2542032"/>
            <a:ext cx="3474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E6EDF5"/>
                </a:solidFill>
                <a:latin typeface="Space Grotesk"/>
              </a:rPr>
              <a:t>artifact-manifest.json, SHA256SUMS.txt, clear paths, timestamps, limitations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92640" y="1920240"/>
            <a:ext cx="3931920" cy="1463040"/>
          </a:xfrm>
          <a:prstGeom prst="roundRect">
            <a:avLst/>
          </a:prstGeom>
          <a:solidFill>
            <a:srgbClr val="0C141E"/>
          </a:solidFill>
          <a:ln w="15240">
            <a:solidFill>
              <a:srgbClr val="2B3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692640" y="1920240"/>
            <a:ext cx="45720" cy="1463040"/>
          </a:xfrm>
          <a:prstGeom prst="rect">
            <a:avLst/>
          </a:prstGeom>
          <a:solidFill>
            <a:srgbClr val="B6F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48672" y="212140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B6FF3B"/>
                </a:solidFill>
                <a:latin typeface="Space Mono"/>
              </a:rPr>
              <a:t>FINDING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48672" y="2542032"/>
            <a:ext cx="3474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E6EDF5"/>
                </a:solidFill>
                <a:latin typeface="Space Grotesk"/>
              </a:rPr>
              <a:t>method, evidence, interpretation, failure mode, defensive meaning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" y="4160520"/>
            <a:ext cx="115214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E6EDF5"/>
                </a:solidFill>
                <a:latin typeface="Space Grotesk"/>
              </a:defRPr>
            </a:pPr>
            <a:r>
              <a:t>Do not trust model text as a decision.</a:t>
            </a:r>
          </a:p>
          <a:p>
            <a:pPr>
              <a:spcAft>
                <a:spcPts val="800"/>
              </a:spcAft>
              <a:defRPr sz="2400">
                <a:solidFill>
                  <a:srgbClr val="E6EDF5"/>
                </a:solidFill>
                <a:latin typeface="Space Grotesk"/>
              </a:defRPr>
            </a:pPr>
            <a:r>
              <a:t>Do not collapse source, DOM, render, screenshot, frame, state, and policy evidence into one claim.</a:t>
            </a:r>
          </a:p>
          <a:p>
            <a:pPr>
              <a:spcAft>
                <a:spcPts val="800"/>
              </a:spcAft>
              <a:defRPr sz="2400">
                <a:solidFill>
                  <a:srgbClr val="E6EDF5"/>
                </a:solidFill>
                <a:latin typeface="Space Grotesk"/>
              </a:defRPr>
            </a:pPr>
            <a:r>
              <a:t>Do prove the boundary with replayable local artifacts.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69037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>
                <a:solidFill>
                  <a:srgbClr val="4DE1FF"/>
                </a:solidFill>
                <a:latin typeface="Space Mono"/>
              </a:rPr>
              <a:t>unattributed / Browser-Safe AI Systems Workshop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747979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9AA6B2"/>
                </a:solidFill>
                <a:latin typeface="Space Mono"/>
              </a:rPr>
              <a:t>BROWSER-SAFE AI SYSTEMS WORKSHOP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81160" y="747979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AA6B2"/>
                </a:solidFill>
                <a:latin typeface="Space Mono"/>
              </a:rPr>
              <a:t>unattributed / instructor: stumble the drunk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Browser-Safe AI Systems Workshop - Student Lab Deck</dc:title>
  <dc:subject>Student PowerPoint deck for the Browser-Safe AI Systems workshop labs</dc:subject>
  <dc:creator>unattributed</dc:creator>
  <cp:keywords>browser AI security, workshop, labs, evidence, local-only, synthetic-only</cp:keywords>
  <dc:description>Instructor: stumble the drunk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